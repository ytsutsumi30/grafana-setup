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生産管理システム 操作手順書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index.html / maintenance.html 画面・機能ガイド</a:t>
            </a:r>
          </a:p>
          <a:p/>
          <a:p>
            <a:r>
              <a:t>バージョン 2.1.0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目次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1. システム概要</a:t>
            </a:r>
          </a:p>
          <a:p>
            <a:pPr>
              <a:defRPr sz="1800" b="1"/>
            </a:pPr>
            <a:r>
              <a:t>2. 出荷検品システム (index.html)</a:t>
            </a:r>
          </a:p>
          <a:p>
            <a:pPr>
              <a:defRPr sz="1800" b="1"/>
            </a:pPr>
            <a:r>
              <a:t>3. メンテナンス機能 (maintenance.html)</a:t>
            </a:r>
          </a:p>
          <a:p>
            <a:pPr>
              <a:defRPr sz="1800" b="1"/>
            </a:pPr>
            <a:r>
              <a:t>4. マスタデータ管理</a:t>
            </a:r>
          </a:p>
          <a:p>
            <a:pPr>
              <a:defRPr sz="1800" b="1"/>
            </a:pPr>
            <a:r>
              <a:t>5. 業務データ管理</a:t>
            </a:r>
          </a:p>
          <a:p>
            <a:pPr>
              <a:defRPr sz="1800" b="1"/>
            </a:pPr>
            <a:r>
              <a:t>6. モニタリング・分析機能</a:t>
            </a:r>
          </a:p>
          <a:p>
            <a:pPr>
              <a:defRPr sz="1800" b="1"/>
            </a:pPr>
            <a:r>
              <a:t>7. 品質管理（QCツール）</a:t>
            </a:r>
          </a:p>
          <a:p>
            <a:pPr>
              <a:defRPr sz="1800" b="1"/>
            </a:pPr>
            <a:r>
              <a:t>8. システム管理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E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1. システム概要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システム概要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システム名称</a:t>
            </a:r>
          </a:p>
          <a:p>
            <a:pPr lvl="1">
              <a:defRPr sz="1600"/>
            </a:pPr>
            <a:r>
              <a:t>日本の生産管理システム（出荷検品・在庫管理）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主要機能</a:t>
            </a:r>
          </a:p>
          <a:p>
            <a:pPr lvl="1">
              <a:defRPr sz="1600"/>
            </a:pPr>
            <a:r>
              <a:t>• 出荷指示の検品実行（QRコード対応）</a:t>
            </a:r>
          </a:p>
          <a:p>
            <a:pPr lvl="1">
              <a:defRPr sz="1600"/>
            </a:pPr>
            <a:r>
              <a:t>• リアルタイム在庫管理</a:t>
            </a:r>
          </a:p>
          <a:p>
            <a:pPr lvl="1">
              <a:defRPr sz="1600"/>
            </a:pPr>
            <a:r>
              <a:t>• 製品・拠点・構成部品のマスタデータ管理</a:t>
            </a:r>
          </a:p>
          <a:p>
            <a:pPr lvl="1">
              <a:defRPr sz="1600"/>
            </a:pPr>
            <a:r>
              <a:t>• 品質管理ツール（QC七つ道具・新QC七つ道具）</a:t>
            </a:r>
          </a:p>
          <a:p>
            <a:pPr lvl="1">
              <a:defRPr sz="1600"/>
            </a:pPr>
            <a:r>
              <a:t>• データベースバックアップ・復元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技術スタック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フロントエンド</a:t>
            </a:r>
          </a:p>
          <a:p>
            <a:pPr lvl="1">
              <a:defRPr sz="1600"/>
            </a:pPr>
            <a:r>
              <a:t>• Vanilla JavaScript (ES6+), Bootstrap 5, HTML5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バックエンド</a:t>
            </a:r>
          </a:p>
          <a:p>
            <a:pPr lvl="1">
              <a:defRPr sz="1600"/>
            </a:pPr>
            <a:r>
              <a:t>• Node.js 18+ (Express)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データベース</a:t>
            </a:r>
          </a:p>
          <a:p>
            <a:pPr lvl="1">
              <a:defRPr sz="1600"/>
            </a:pPr>
            <a:r>
              <a:t>• PostgreSQL 15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その他</a:t>
            </a:r>
          </a:p>
          <a:p>
            <a:pPr lvl="1">
              <a:defRPr sz="1600"/>
            </a:pPr>
            <a:r>
              <a:t>• Docker Compose によるコンテナ管理</a:t>
            </a:r>
          </a:p>
          <a:p>
            <a:pPr lvl="1">
              <a:defRPr sz="1600"/>
            </a:pPr>
            <a:r>
              <a:t>• nginx リバースプロキシ</a:t>
            </a:r>
          </a:p>
          <a:p>
            <a:pPr lvl="1">
              <a:defRPr sz="1600"/>
            </a:pPr>
            <a:r>
              <a:t>• Grafana + Prometheus (オプショナル)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E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2. 出荷検品システム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出荷検品システム - 画面概要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アクセス方法</a:t>
            </a:r>
          </a:p>
          <a:p>
            <a:pPr lvl="1">
              <a:defRPr sz="1600"/>
            </a:pPr>
            <a:r>
              <a:t>URL: https://[ホスト名]/index.html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主要機能エリア</a:t>
            </a:r>
          </a:p>
          <a:p>
            <a:pPr lvl="1">
              <a:defRPr sz="1600"/>
            </a:pPr>
            <a:r>
              <a:t>1. ヘッダー部</a:t>
            </a:r>
          </a:p>
          <a:p>
            <a:pPr lvl="2">
              <a:defRPr sz="1400"/>
            </a:pPr>
            <a:r>
              <a:t>   - システムタイトル・コード修正日時表示</a:t>
            </a:r>
          </a:p>
          <a:p>
            <a:pPr lvl="2">
              <a:defRPr sz="1400"/>
            </a:pPr>
            <a:r>
              <a:t>   - QRコード読み取り・メンテナンス・メインシステムへのリンク</a:t>
            </a:r>
          </a:p>
          <a:p>
            <a:pPr lvl="1">
              <a:defRPr sz="1600"/>
            </a:pPr>
            <a:r>
              <a:t>2. 検品待ち出荷指示一覧</a:t>
            </a:r>
          </a:p>
          <a:p>
            <a:pPr lvl="2">
              <a:defRPr sz="1400"/>
            </a:pPr>
            <a:r>
              <a:t>   - ステータスが「pending」の出荷指示を表示</a:t>
            </a:r>
          </a:p>
          <a:p>
            <a:pPr lvl="1">
              <a:defRPr sz="1600"/>
            </a:pPr>
            <a:r>
              <a:t>3. サイドバー</a:t>
            </a:r>
          </a:p>
          <a:p>
            <a:pPr lvl="2">
              <a:defRPr sz="1400"/>
            </a:pPr>
            <a:r>
              <a:t>   - 本日の検品実績（完了・待機中・合格率）</a:t>
            </a:r>
          </a:p>
          <a:p>
            <a:pPr lvl="2">
              <a:defRPr sz="1400"/>
            </a:pPr>
            <a:r>
              <a:t>   - 注意事項・最近の検品履歴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検品待ち出荷指示の操作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出荷指示カードの表示内容</a:t>
            </a:r>
          </a:p>
          <a:p>
            <a:pPr lvl="1">
              <a:defRPr sz="1600"/>
            </a:pPr>
            <a:r>
              <a:t>• 出荷指示番号・製品名・製品コード</a:t>
            </a:r>
          </a:p>
          <a:p>
            <a:pPr lvl="1">
              <a:defRPr sz="1600"/>
            </a:pPr>
            <a:r>
              <a:t>• 出荷数量・顧客名・出荷日</a:t>
            </a:r>
          </a:p>
          <a:p>
            <a:pPr lvl="1">
              <a:defRPr sz="1600"/>
            </a:pPr>
            <a:r>
              <a:t>• 製品QRコード（クリックでQR検品画面へ遷移）</a:t>
            </a:r>
          </a:p>
          <a:p>
            <a:pPr lvl="1">
              <a:defRPr sz="1600"/>
            </a:pPr>
            <a:r>
              <a:t>• 配送先・特記事項</a:t>
            </a:r>
          </a:p>
          <a:p>
            <a:pPr lvl="1">
              <a:defRPr sz="1600"/>
            </a:pPr>
            <a:r>
              <a:t>• 優先度バッジ（高優先度・通常優先度・低優先度）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操作ボタン</a:t>
            </a:r>
          </a:p>
          <a:p>
            <a:pPr lvl="1">
              <a:defRPr sz="1600"/>
            </a:pPr>
            <a:r>
              <a:t>• 検品開始：従来型の検品フォームを開く</a:t>
            </a:r>
          </a:p>
          <a:p>
            <a:pPr lvl="1">
              <a:defRPr sz="1600"/>
            </a:pPr>
            <a:r>
              <a:t>• QR検品：QRコードベースの検品画面を開く</a:t>
            </a:r>
          </a:p>
          <a:p>
            <a:pPr lvl="1">
              <a:defRPr sz="1600"/>
            </a:pPr>
            <a:r>
              <a:t>• 詳細表示：出荷指示の詳細情報を表示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従来型検品の操作手順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Step 1: 検品開始</a:t>
            </a:r>
          </a:p>
          <a:p>
            <a:pPr lvl="1">
              <a:defRPr sz="1600"/>
            </a:pPr>
            <a:r>
              <a:t>出荷指示カードの「検品開始」ボタンをクリック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Step 2: 検品情報の入力</a:t>
            </a:r>
          </a:p>
          <a:p>
            <a:pPr lvl="1">
              <a:defRPr sz="1600"/>
            </a:pPr>
            <a:r>
              <a:t>• 検品者名を入力（必須）</a:t>
            </a:r>
          </a:p>
          <a:p>
            <a:pPr lvl="1">
              <a:defRPr sz="1600"/>
            </a:pPr>
            <a:r>
              <a:t>• 検品数量を入力（デフォルト: 予定数量）</a:t>
            </a:r>
          </a:p>
          <a:p>
            <a:pPr lvl="1">
              <a:defRPr sz="1600"/>
            </a:pPr>
            <a:r>
              <a:t>• 合格数量を入力（デフォルト: 予定数量）</a:t>
            </a:r>
          </a:p>
          <a:p>
            <a:pPr lvl="1">
              <a:defRPr sz="1600"/>
            </a:pPr>
            <a:r>
              <a:t>• 不合格数量は自動計算される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Step 3: チェック項目の確認</a:t>
            </a:r>
          </a:p>
          <a:p>
            <a:pPr lvl="1">
              <a:defRPr sz="1600"/>
            </a:pPr>
            <a:r>
              <a:t>以下の項目をチェック:</a:t>
            </a:r>
          </a:p>
          <a:p>
            <a:pPr lvl="1">
              <a:defRPr sz="1400"/>
            </a:pPr>
            <a:r>
              <a:t>□ ラベル確認完了 □ 梱包状態確認 □ 出荷書類確認</a:t>
            </a:r>
          </a:p>
          <a:p>
            <a:pPr lvl="1">
              <a:defRPr sz="1400"/>
            </a:pPr>
            <a:r>
              <a:t>□ 品質基準適合 □ 数量一致確認 □ 最終承認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従来型検品の操作手順（続き）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Step 4: 検品完了・下書き保存</a:t>
            </a:r>
          </a:p>
          <a:p>
            <a:pPr lvl="1">
              <a:defRPr sz="1600"/>
            </a:pPr>
            <a:r>
              <a:t>• 下書き保存：検品途中で一時保存</a:t>
            </a:r>
          </a:p>
          <a:p>
            <a:pPr lvl="1">
              <a:defRPr sz="1600"/>
            </a:pPr>
            <a:r>
              <a:t>• 検品完了：検品を完了し、データベースに記録</a:t>
            </a:r>
          </a:p>
          <a:p>
            <a:pPr lvl="2">
              <a:defRPr sz="1400"/>
            </a:pPr>
            <a:r>
              <a:t>  - 最終承認が未チェックの場合、確認ダイアログが表示される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注意事項</a:t>
            </a:r>
          </a:p>
          <a:p>
            <a:pPr lvl="1">
              <a:defRPr sz="1600"/>
            </a:pPr>
            <a:r>
              <a:t>• 検品者名は必須項目です</a:t>
            </a:r>
          </a:p>
          <a:p>
            <a:pPr lvl="1">
              <a:defRPr sz="1600"/>
            </a:pPr>
            <a:r>
              <a:t>• 合格数量は検品数量を超えることはできません</a:t>
            </a:r>
          </a:p>
          <a:p>
            <a:pPr lvl="1">
              <a:defRPr sz="1600"/>
            </a:pPr>
            <a:r>
              <a:t>• 検品完了後、出荷指示のステータスが更新されます</a:t>
            </a:r>
          </a:p>
          <a:p>
            <a:pPr lvl="1">
              <a:defRPr sz="1600"/>
            </a:pPr>
            <a:r>
              <a:t>• 在庫は自動的に減算されます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QR検品の操作手順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Step 1: QR検品画面を開く</a:t>
            </a:r>
          </a:p>
          <a:p>
            <a:pPr lvl="1">
              <a:defRPr sz="1600"/>
            </a:pPr>
            <a:r>
              <a:t>出荷指示カードの「QR検品」ボタンまたは製品QRコードをクリック</a:t>
            </a:r>
          </a:p>
          <a:p>
            <a:pPr lvl="1">
              <a:defRPr sz="1600"/>
            </a:pPr>
            <a:r>
              <a:t>→ 別タブでQR検品画面（qr-inspection.html）が開く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Step 2: 検品者名を入力</a:t>
            </a:r>
          </a:p>
          <a:p>
            <a:pPr lvl="1">
              <a:defRPr sz="1600"/>
            </a:pPr>
            <a:r>
              <a:t>QR検品画面左側の「検品者名」欄に名前を入力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Step 3: QRスキャン開始</a:t>
            </a:r>
          </a:p>
          <a:p>
            <a:pPr lvl="1">
              <a:defRPr sz="1600"/>
            </a:pPr>
            <a:r>
              <a:t>• 「QRスキャン開始」ボタンをクリック</a:t>
            </a:r>
          </a:p>
          <a:p>
            <a:pPr lvl="1">
              <a:defRPr sz="1600"/>
            </a:pPr>
            <a:r>
              <a:t>• カメラアクセスの許可を求められたら「許可」をクリック</a:t>
            </a:r>
          </a:p>
          <a:p>
            <a:pPr lvl="1">
              <a:defRPr sz="1600"/>
            </a:pPr>
            <a:r>
              <a:t>• カメラ映像が表示される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QR検品の操作手順（続き）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Step 4: 同梱物のQRコードをスキャン</a:t>
            </a:r>
          </a:p>
          <a:p>
            <a:pPr lvl="1">
              <a:defRPr sz="1600"/>
            </a:pPr>
            <a:r>
              <a:t>• 製品構成部品のQRコードをカメラに向ける</a:t>
            </a:r>
          </a:p>
          <a:p>
            <a:pPr lvl="1">
              <a:defRPr sz="1600"/>
            </a:pPr>
            <a:r>
              <a:t>• スキャン成功すると、該当アイテムが「確認済み」に変わる</a:t>
            </a:r>
          </a:p>
          <a:p>
            <a:pPr lvl="1">
              <a:defRPr sz="1600"/>
            </a:pPr>
            <a:r>
              <a:t>• 進捗表示「N/M」が更新される</a:t>
            </a:r>
          </a:p>
          <a:p>
            <a:pPr lvl="1">
              <a:defRPr sz="1600"/>
            </a:pPr>
            <a:r>
              <a:t>• 次のアイテムのスキャンに自動的に進む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Step 5: 検品完了</a:t>
            </a:r>
          </a:p>
          <a:p>
            <a:pPr lvl="1">
              <a:defRPr sz="1600"/>
            </a:pPr>
            <a:r>
              <a:t>• すべてのアイテムをスキャン後、「検品完了」ボタンをクリック</a:t>
            </a:r>
          </a:p>
          <a:p>
            <a:pPr lvl="1">
              <a:defRPr sz="1600"/>
            </a:pPr>
            <a:r>
              <a:t>• 検品結果がデータベースに記録される</a:t>
            </a:r>
          </a:p>
          <a:p>
            <a:pPr lvl="1">
              <a:defRPr sz="1600"/>
            </a:pPr>
            <a:r>
              <a:t>• 在庫が自動的に減算される</a:t>
            </a:r>
          </a:p>
          <a:p>
            <a:pPr lvl="1">
              <a:defRPr sz="1600"/>
            </a:pPr>
            <a:r>
              <a:t>• 完了メッセージが表示される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QR検品の補助機能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テストスキャン</a:t>
            </a:r>
          </a:p>
          <a:p>
            <a:pPr lvl="1">
              <a:defRPr sz="1600"/>
            </a:pPr>
            <a:r>
              <a:t>• 「テストスキャン」ボタンでランダムにアイテムをスキャンシミュレート</a:t>
            </a:r>
          </a:p>
          <a:p>
            <a:pPr lvl="1">
              <a:defRPr sz="1600"/>
            </a:pPr>
            <a:r>
              <a:t>• 開発・デモ用途に使用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手動入力</a:t>
            </a:r>
          </a:p>
          <a:p>
            <a:pPr lvl="1">
              <a:defRPr sz="1600"/>
            </a:pPr>
            <a:r>
              <a:t>• 「手動入力」ボタンでQRコード値を手入力可能</a:t>
            </a:r>
          </a:p>
          <a:p>
            <a:pPr lvl="1">
              <a:defRPr sz="1600"/>
            </a:pPr>
            <a:r>
              <a:t>• カメラが使えない場合のフォールバック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カメラの注意事項</a:t>
            </a:r>
          </a:p>
          <a:p>
            <a:pPr lvl="1">
              <a:defRPr sz="1600"/>
            </a:pPr>
            <a:r>
              <a:t>• HTTPSまたはlocalhostでアクセスすること</a:t>
            </a:r>
          </a:p>
          <a:p>
            <a:pPr lvl="1">
              <a:defRPr sz="1600"/>
            </a:pPr>
            <a:r>
              <a:t>• iOS Safariの場合、設定→Safari→カメラを「許可」に設定</a:t>
            </a:r>
          </a:p>
          <a:p>
            <a:pPr lvl="1">
              <a:defRPr sz="1600"/>
            </a:pPr>
            <a:r>
              <a:t>• ブラウザを最新版に更新すること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E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3. メンテナンス機能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メンテナンス画面 - 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アクセス方法</a:t>
            </a:r>
          </a:p>
          <a:p>
            <a:pPr lvl="1">
              <a:defRPr sz="1600"/>
            </a:pPr>
            <a:r>
              <a:t>• 出荷検品システム画面右上の「メンテナンス」ボタンをクリック</a:t>
            </a:r>
          </a:p>
          <a:p>
            <a:pPr lvl="1">
              <a:defRPr sz="1600"/>
            </a:pPr>
            <a:r>
              <a:t>• 直接アクセス: https://[ホスト名]/maintenance.html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メンテナンス画面の構成</a:t>
            </a:r>
          </a:p>
          <a:p>
            <a:pPr lvl="1">
              <a:defRPr sz="1600"/>
            </a:pPr>
            <a:r>
              <a:t>1. マスタデータ管理</a:t>
            </a:r>
          </a:p>
          <a:p>
            <a:pPr lvl="2">
              <a:defRPr sz="1400"/>
            </a:pPr>
            <a:r>
              <a:t>   - 製品マスタ・出荷元拠点・配送先拠点・製品構成部品</a:t>
            </a:r>
          </a:p>
          <a:p>
            <a:pPr lvl="1">
              <a:defRPr sz="1600"/>
            </a:pPr>
            <a:r>
              <a:t>2. 業務データ管理</a:t>
            </a:r>
          </a:p>
          <a:p>
            <a:pPr lvl="2">
              <a:defRPr sz="1400"/>
            </a:pPr>
            <a:r>
              <a:t>   - 生産計画・出荷指示・在庫管理</a:t>
            </a:r>
          </a:p>
          <a:p>
            <a:pPr lvl="1">
              <a:defRPr sz="1600"/>
            </a:pPr>
            <a:r>
              <a:t>3. モニタリング・分析</a:t>
            </a:r>
          </a:p>
          <a:p>
            <a:pPr lvl="2">
              <a:defRPr sz="1400"/>
            </a:pPr>
            <a:r>
              <a:t>   - モニタリングダッシュボード</a:t>
            </a:r>
          </a:p>
          <a:p>
            <a:pPr lvl="1">
              <a:defRPr sz="1600"/>
            </a:pPr>
            <a:r>
              <a:t>4. 品質管理（QCツール）</a:t>
            </a:r>
          </a:p>
          <a:p>
            <a:pPr lvl="2">
              <a:defRPr sz="1400"/>
            </a:pPr>
            <a:r>
              <a:t>   - QC七つ道具・新QC七つ道具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メンテナンス画面 - 概要（続き）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メンテナンス画面の構成（続き）</a:t>
            </a:r>
          </a:p>
          <a:p>
            <a:pPr lvl="1">
              <a:defRPr sz="1600"/>
            </a:pPr>
            <a:r>
              <a:t>5. システム管理</a:t>
            </a:r>
          </a:p>
          <a:p>
            <a:pPr lvl="2">
              <a:defRPr sz="1400"/>
            </a:pPr>
            <a:r>
              <a:t>   - データベース・システムログ・ユーザー管理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画面下部のシステム情報</a:t>
            </a:r>
          </a:p>
          <a:p>
            <a:pPr lvl="1">
              <a:defRPr sz="1600"/>
            </a:pPr>
            <a:r>
              <a:t>• システムバージョン: v2.1.0</a:t>
            </a:r>
          </a:p>
          <a:p>
            <a:pPr lvl="1">
              <a:defRPr sz="1600"/>
            </a:pPr>
            <a:r>
              <a:t>• データベース: PostgreSQL 15</a:t>
            </a:r>
          </a:p>
          <a:p>
            <a:pPr lvl="1">
              <a:defRPr sz="1600"/>
            </a:pPr>
            <a:r>
              <a:t>• テーブル数: 12</a:t>
            </a:r>
          </a:p>
          <a:p>
            <a:pPr lvl="1">
              <a:defRPr sz="1600"/>
            </a:pPr>
            <a:r>
              <a:t>• 最終更新: 2025-11-07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E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4. マスタデータ管理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製品マスタ (products.html)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機能概要</a:t>
            </a:r>
          </a:p>
          <a:p>
            <a:pPr lvl="1">
              <a:defRPr sz="1600"/>
            </a:pPr>
            <a:r>
              <a:t>製品情報の登録・編集・削除を行います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管理項目</a:t>
            </a:r>
          </a:p>
          <a:p>
            <a:pPr lvl="1">
              <a:defRPr sz="1600"/>
            </a:pPr>
            <a:r>
              <a:t>• 製品コード（一意の識別子）</a:t>
            </a:r>
          </a:p>
          <a:p>
            <a:pPr lvl="1">
              <a:defRPr sz="1600"/>
            </a:pPr>
            <a:r>
              <a:t>• 製品名称</a:t>
            </a:r>
          </a:p>
          <a:p>
            <a:pPr lvl="1">
              <a:defRPr sz="1600"/>
            </a:pPr>
            <a:r>
              <a:t>• 単価</a:t>
            </a:r>
          </a:p>
          <a:p>
            <a:pPr lvl="1">
              <a:defRPr sz="1600"/>
            </a:pPr>
            <a:r>
              <a:t>• 在庫数量</a:t>
            </a:r>
          </a:p>
          <a:p>
            <a:pPr lvl="1">
              <a:defRPr sz="1600"/>
            </a:pPr>
            <a:r>
              <a:t>• 製品説明・備考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操作方法</a:t>
            </a:r>
          </a:p>
          <a:p>
            <a:pPr lvl="1">
              <a:defRPr sz="1600"/>
            </a:pPr>
            <a:r>
              <a:t>1. 新規登録：「新規製品登録」ボタンをクリック</a:t>
            </a:r>
          </a:p>
          <a:p>
            <a:pPr lvl="1">
              <a:defRPr sz="1600"/>
            </a:pPr>
            <a:r>
              <a:t>2. 編集：製品行の「編集」ボタンをクリック</a:t>
            </a:r>
          </a:p>
          <a:p>
            <a:pPr lvl="1">
              <a:defRPr sz="1600"/>
            </a:pPr>
            <a:r>
              <a:t>3. 削除：製品行の「削除」ボタンをクリック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出荷元拠点 (shipping-locations.html)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機能概要</a:t>
            </a:r>
          </a:p>
          <a:p>
            <a:pPr lvl="1">
              <a:defRPr sz="1600"/>
            </a:pPr>
            <a:r>
              <a:t>出荷元となる倉庫・工場の情報を管理します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管理項目</a:t>
            </a:r>
          </a:p>
          <a:p>
            <a:pPr lvl="1">
              <a:defRPr sz="1600"/>
            </a:pPr>
            <a:r>
              <a:t>• 拠点コード（一意の識別子）</a:t>
            </a:r>
          </a:p>
          <a:p>
            <a:pPr lvl="1">
              <a:defRPr sz="1600"/>
            </a:pPr>
            <a:r>
              <a:t>• 拠点名称</a:t>
            </a:r>
          </a:p>
          <a:p>
            <a:pPr lvl="1">
              <a:defRPr sz="1600"/>
            </a:pPr>
            <a:r>
              <a:t>• 住所（郵便番号・都道府県・市区町村・番地）</a:t>
            </a:r>
          </a:p>
          <a:p>
            <a:pPr lvl="1">
              <a:defRPr sz="1600"/>
            </a:pPr>
            <a:r>
              <a:t>• 連絡先（電話番号・担当者名）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用途</a:t>
            </a:r>
          </a:p>
          <a:p>
            <a:pPr lvl="1">
              <a:defRPr sz="1600"/>
            </a:pPr>
            <a:r>
              <a:t>• 出荷指示作成時に出荷元を選択</a:t>
            </a:r>
          </a:p>
          <a:p>
            <a:pPr lvl="1">
              <a:defRPr sz="1600"/>
            </a:pPr>
            <a:r>
              <a:t>• 出荷書類への印字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配送先拠点 (delivery-locations.html)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機能概要</a:t>
            </a:r>
          </a:p>
          <a:p>
            <a:pPr lvl="1">
              <a:defRPr sz="1600"/>
            </a:pPr>
            <a:r>
              <a:t>配送先の顧客拠点情報を管理します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管理項目</a:t>
            </a:r>
          </a:p>
          <a:p>
            <a:pPr lvl="1">
              <a:defRPr sz="1600"/>
            </a:pPr>
            <a:r>
              <a:t>• 拠点コード（一意の識別子）</a:t>
            </a:r>
          </a:p>
          <a:p>
            <a:pPr lvl="1">
              <a:defRPr sz="1600"/>
            </a:pPr>
            <a:r>
              <a:t>• 拠点名称</a:t>
            </a:r>
          </a:p>
          <a:p>
            <a:pPr lvl="1">
              <a:defRPr sz="1600"/>
            </a:pPr>
            <a:r>
              <a:t>• 配送方法（トラック・航空便・船便など）</a:t>
            </a:r>
          </a:p>
          <a:p>
            <a:pPr lvl="1">
              <a:defRPr sz="1600"/>
            </a:pPr>
            <a:r>
              <a:t>• 住所情報</a:t>
            </a:r>
          </a:p>
          <a:p>
            <a:pPr lvl="1">
              <a:defRPr sz="1600"/>
            </a:pPr>
            <a:r>
              <a:t>• 配送業者情報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用途</a:t>
            </a:r>
          </a:p>
          <a:p>
            <a:pPr lvl="1">
              <a:defRPr sz="1600"/>
            </a:pPr>
            <a:r>
              <a:t>• 出荷指示作成時に配送先を選択</a:t>
            </a:r>
          </a:p>
          <a:p>
            <a:pPr lvl="1">
              <a:defRPr sz="1600"/>
            </a:pPr>
            <a:r>
              <a:t>• 配送ラベルへの印字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製品構成部品 (product-components.html)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機能概要</a:t>
            </a:r>
          </a:p>
          <a:p>
            <a:pPr lvl="1">
              <a:defRPr sz="1600"/>
            </a:pPr>
            <a:r>
              <a:t>製品を構成する部品とQRコードのマッピングを管理します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管理項目</a:t>
            </a:r>
          </a:p>
          <a:p>
            <a:pPr lvl="1">
              <a:defRPr sz="1600"/>
            </a:pPr>
            <a:r>
              <a:t>• 製品ID（対象製品）</a:t>
            </a:r>
          </a:p>
          <a:p>
            <a:pPr lvl="1">
              <a:defRPr sz="1600"/>
            </a:pPr>
            <a:r>
              <a:t>• 部品種別（例: 本体、電源ケーブル、説明書、保証書）</a:t>
            </a:r>
          </a:p>
          <a:p>
            <a:pPr lvl="1">
              <a:defRPr sz="1600"/>
            </a:pPr>
            <a:r>
              <a:t>• 部品名称</a:t>
            </a:r>
          </a:p>
          <a:p>
            <a:pPr lvl="1">
              <a:defRPr sz="1600"/>
            </a:pPr>
            <a:r>
              <a:t>• QRコード値</a:t>
            </a:r>
          </a:p>
          <a:p>
            <a:pPr lvl="1">
              <a:defRPr sz="1600"/>
            </a:pPr>
            <a:r>
              <a:t>• 必須フラグ（検品時に必須かどうか）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用途</a:t>
            </a:r>
          </a:p>
          <a:p>
            <a:pPr lvl="1">
              <a:defRPr sz="1600"/>
            </a:pPr>
            <a:r>
              <a:t>• QR検品時の同梱物チェックリスト生成</a:t>
            </a:r>
          </a:p>
          <a:p>
            <a:pPr lvl="1">
              <a:defRPr sz="1600"/>
            </a:pPr>
            <a:r>
              <a:t>• スキャンされたQRコードとの照合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E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5. 業務データ管理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生産計画 (production-plans.html)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機能概要</a:t>
            </a:r>
          </a:p>
          <a:p>
            <a:pPr lvl="1">
              <a:defRPr sz="1600"/>
            </a:pPr>
            <a:r>
              <a:t>製品の生産計画を管理します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管理項目</a:t>
            </a:r>
          </a:p>
          <a:p>
            <a:pPr lvl="1">
              <a:defRPr sz="1600"/>
            </a:pPr>
            <a:r>
              <a:t>• 計画番号</a:t>
            </a:r>
          </a:p>
          <a:p>
            <a:pPr lvl="1">
              <a:defRPr sz="1600"/>
            </a:pPr>
            <a:r>
              <a:t>• 製品ID（対象製品）</a:t>
            </a:r>
          </a:p>
          <a:p>
            <a:pPr lvl="1">
              <a:defRPr sz="1600"/>
            </a:pPr>
            <a:r>
              <a:t>• 計画数量</a:t>
            </a:r>
          </a:p>
          <a:p>
            <a:pPr lvl="1">
              <a:defRPr sz="1600"/>
            </a:pPr>
            <a:r>
              <a:t>• 開始予定日・完了予定日</a:t>
            </a:r>
          </a:p>
          <a:p>
            <a:pPr lvl="1">
              <a:defRPr sz="1600"/>
            </a:pPr>
            <a:r>
              <a:t>• 実績数量</a:t>
            </a:r>
          </a:p>
          <a:p>
            <a:pPr lvl="1">
              <a:defRPr sz="1600"/>
            </a:pPr>
            <a:r>
              <a:t>• ステータス（計画中・生産中・完了）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操作方法</a:t>
            </a:r>
          </a:p>
          <a:p>
            <a:pPr lvl="1">
              <a:defRPr sz="1600"/>
            </a:pPr>
            <a:r>
              <a:t>1. 新規計画：製品と数量を入力</a:t>
            </a:r>
          </a:p>
          <a:p>
            <a:pPr lvl="1">
              <a:defRPr sz="1600"/>
            </a:pPr>
            <a:r>
              <a:t>2. 実績入力：生産完了数を更新</a:t>
            </a:r>
          </a:p>
          <a:p>
            <a:pPr lvl="1">
              <a:defRPr sz="1600"/>
            </a:pPr>
            <a:r>
              <a:t>3. 在庫連携：生産完了時に在庫が自動増加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出荷指示 (shipping-instructions.html)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機能概要</a:t>
            </a:r>
          </a:p>
          <a:p>
            <a:pPr lvl="1">
              <a:defRPr sz="1600"/>
            </a:pPr>
            <a:r>
              <a:t>顧客への出荷指示を作成・管理します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管理項目</a:t>
            </a:r>
          </a:p>
          <a:p>
            <a:pPr lvl="1">
              <a:defRPr sz="1600"/>
            </a:pPr>
            <a:r>
              <a:t>• 出荷指示番号</a:t>
            </a:r>
          </a:p>
          <a:p>
            <a:pPr lvl="1">
              <a:defRPr sz="1600"/>
            </a:pPr>
            <a:r>
              <a:t>• 製品ID・出荷数量</a:t>
            </a:r>
          </a:p>
          <a:p>
            <a:pPr lvl="1">
              <a:defRPr sz="1600"/>
            </a:pPr>
            <a:r>
              <a:t>• 出荷元拠点・配送先拠点</a:t>
            </a:r>
          </a:p>
          <a:p>
            <a:pPr lvl="1">
              <a:defRPr sz="1600"/>
            </a:pPr>
            <a:r>
              <a:t>• 出荷日・配送方法</a:t>
            </a:r>
          </a:p>
          <a:p>
            <a:pPr lvl="1">
              <a:defRPr sz="1600"/>
            </a:pPr>
            <a:r>
              <a:t>• ステータス（pending / in_progress / completed / cancelled）</a:t>
            </a:r>
          </a:p>
          <a:p>
            <a:pPr lvl="1">
              <a:defRPr sz="1600"/>
            </a:pPr>
            <a:r>
              <a:t>• 優先度（high / normal / low）</a:t>
            </a:r>
          </a:p>
          <a:p>
            <a:pPr lvl="1">
              <a:defRPr sz="1600"/>
            </a:pPr>
            <a:r>
              <a:t>• 特記事項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出荷指示 - 操作フロー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新規出荷指示の作成</a:t>
            </a:r>
          </a:p>
          <a:p>
            <a:pPr lvl="1">
              <a:defRPr sz="1600"/>
            </a:pPr>
            <a:r>
              <a:t>1. 「新規出荷指示」ボタンをクリック</a:t>
            </a:r>
          </a:p>
          <a:p>
            <a:pPr lvl="1">
              <a:defRPr sz="1600"/>
            </a:pPr>
            <a:r>
              <a:t>2. 製品・数量・出荷日を入力</a:t>
            </a:r>
          </a:p>
          <a:p>
            <a:pPr lvl="1">
              <a:defRPr sz="1600"/>
            </a:pPr>
            <a:r>
              <a:t>3. 出荷元・配送先を選択</a:t>
            </a:r>
          </a:p>
          <a:p>
            <a:pPr lvl="1">
              <a:defRPr sz="1600"/>
            </a:pPr>
            <a:r>
              <a:t>4. 優先度を設定（必要に応じて）</a:t>
            </a:r>
          </a:p>
          <a:p>
            <a:pPr lvl="1">
              <a:defRPr sz="1600"/>
            </a:pPr>
            <a:r>
              <a:t>5. 「登録」ボタンで保存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検品との連携</a:t>
            </a:r>
          </a:p>
          <a:p>
            <a:pPr lvl="1">
              <a:defRPr sz="1600"/>
            </a:pPr>
            <a:r>
              <a:t>• ステータスが「pending」の出荷指示がindex.htmlに表示される</a:t>
            </a:r>
          </a:p>
          <a:p>
            <a:pPr lvl="1">
              <a:defRPr sz="1600"/>
            </a:pPr>
            <a:r>
              <a:t>• 検品完了後、ステータスが「completed」に自動更新される</a:t>
            </a:r>
          </a:p>
          <a:p>
            <a:pPr lvl="1">
              <a:defRPr sz="1600"/>
            </a:pPr>
            <a:r>
              <a:t>• 在庫が自動的に減算される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在庫管理 (inventory.html)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機能概要</a:t>
            </a:r>
          </a:p>
          <a:p>
            <a:pPr lvl="1">
              <a:defRPr sz="1600"/>
            </a:pPr>
            <a:r>
              <a:t>製品在庫の確認と調整を行います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表示項目</a:t>
            </a:r>
          </a:p>
          <a:p>
            <a:pPr lvl="1">
              <a:defRPr sz="1600"/>
            </a:pPr>
            <a:r>
              <a:t>• 製品コード・製品名</a:t>
            </a:r>
          </a:p>
          <a:p>
            <a:pPr lvl="1">
              <a:defRPr sz="1600"/>
            </a:pPr>
            <a:r>
              <a:t>• 現在庫数（current_stock）</a:t>
            </a:r>
          </a:p>
          <a:p>
            <a:pPr lvl="1">
              <a:defRPr sz="1600"/>
            </a:pPr>
            <a:r>
              <a:t>• 引当済数（reserved_stock）</a:t>
            </a:r>
          </a:p>
          <a:p>
            <a:pPr lvl="1">
              <a:defRPr sz="1600"/>
            </a:pPr>
            <a:r>
              <a:t>• 利用可能在庫（available_stock = 現在庫 - 引当済）</a:t>
            </a:r>
          </a:p>
          <a:p>
            <a:pPr lvl="1">
              <a:defRPr sz="1400"/>
            </a:pPr>
            <a:r>
              <a:t>  ※ available_stockはPostgreSQLのGENERATED列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在庫調整</a:t>
            </a:r>
          </a:p>
          <a:p>
            <a:pPr lvl="1">
              <a:defRPr sz="1600"/>
            </a:pPr>
            <a:r>
              <a:t>• 「在庫調整」ボタンで現在庫を手動で増減</a:t>
            </a:r>
          </a:p>
          <a:p>
            <a:pPr lvl="1">
              <a:defRPr sz="1600"/>
            </a:pPr>
            <a:r>
              <a:t>• 調整理由を入力（棚卸、不良品廃棄など）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E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6. モニタリング・分析機能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モニタリングダッシュボード (monitoring.html)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機能概要</a:t>
            </a:r>
          </a:p>
          <a:p>
            <a:pPr lvl="1">
              <a:defRPr sz="1600"/>
            </a:pPr>
            <a:r>
              <a:t>リアルタイムで出荷・在庫・検品状況を監視します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表示内容</a:t>
            </a:r>
          </a:p>
          <a:p>
            <a:pPr lvl="1">
              <a:defRPr sz="1600"/>
            </a:pPr>
            <a:r>
              <a:t>• 出荷指示ステータス別集計（pending / completed / cancelled）</a:t>
            </a:r>
          </a:p>
          <a:p>
            <a:pPr lvl="1">
              <a:defRPr sz="1600"/>
            </a:pPr>
            <a:r>
              <a:t>• 在庫アラート（在庫切れ・低在庫警告）</a:t>
            </a:r>
          </a:p>
          <a:p>
            <a:pPr lvl="1">
              <a:defRPr sz="1600"/>
            </a:pPr>
            <a:r>
              <a:t>• 検品パフォーマンス（完了件数・合格率・平均処理時間）</a:t>
            </a:r>
          </a:p>
          <a:p>
            <a:pPr lvl="1">
              <a:defRPr sz="1600"/>
            </a:pPr>
            <a:r>
              <a:t>• 製品別出荷数量ランキング</a:t>
            </a:r>
          </a:p>
          <a:p>
            <a:pPr lvl="1">
              <a:defRPr sz="1600"/>
            </a:pPr>
            <a:r>
              <a:t>• 時系列グラフ（日次・週次・月次）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用途</a:t>
            </a:r>
          </a:p>
          <a:p>
            <a:pPr lvl="1">
              <a:defRPr sz="1600"/>
            </a:pPr>
            <a:r>
              <a:t>• 生産・出荷状況の可視化</a:t>
            </a:r>
          </a:p>
          <a:p>
            <a:pPr lvl="1">
              <a:defRPr sz="1600"/>
            </a:pPr>
            <a:r>
              <a:t>• ボトルネックの早期発見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E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7. 品質管理（QCツール）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QC七つ道具 (qc-dashboard.html)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機能概要</a:t>
            </a:r>
          </a:p>
          <a:p>
            <a:pPr lvl="1">
              <a:defRPr sz="1600"/>
            </a:pPr>
            <a:r>
              <a:t>数値データを用いた品質管理・統計分析ツール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提供される手法</a:t>
            </a:r>
          </a:p>
          <a:p>
            <a:pPr lvl="1">
              <a:defRPr sz="1600"/>
            </a:pPr>
            <a:r>
              <a:t>1. パレート図</a:t>
            </a:r>
          </a:p>
          <a:p>
            <a:pPr lvl="2">
              <a:defRPr sz="1400"/>
            </a:pPr>
            <a:r>
              <a:t>   - 不良原因の重点分析（80-20の法則）</a:t>
            </a:r>
          </a:p>
          <a:p>
            <a:pPr lvl="1">
              <a:defRPr sz="1600"/>
            </a:pPr>
            <a:r>
              <a:t>2. ヒストグラム</a:t>
            </a:r>
          </a:p>
          <a:p>
            <a:pPr lvl="2">
              <a:defRPr sz="1400"/>
            </a:pPr>
            <a:r>
              <a:t>   - データの分布・ばらつきの可視化</a:t>
            </a:r>
          </a:p>
          <a:p>
            <a:pPr lvl="1">
              <a:defRPr sz="1600"/>
            </a:pPr>
            <a:r>
              <a:t>3. 管理図（コントロールチャート）</a:t>
            </a:r>
          </a:p>
          <a:p>
            <a:pPr lvl="2">
              <a:defRPr sz="1400"/>
            </a:pPr>
            <a:r>
              <a:t>   - プロセスの安定性監視</a:t>
            </a:r>
          </a:p>
          <a:p>
            <a:pPr lvl="1">
              <a:defRPr sz="1600"/>
            </a:pPr>
            <a:r>
              <a:t>4. 散布図</a:t>
            </a:r>
          </a:p>
          <a:p>
            <a:pPr lvl="2">
              <a:defRPr sz="1400"/>
            </a:pPr>
            <a:r>
              <a:t>   - 2つの変数の相関関係分析</a:t>
            </a:r>
          </a:p>
          <a:p>
            <a:pPr lvl="1">
              <a:defRPr sz="1600"/>
            </a:pPr>
            <a:r>
              <a:t>5. チェックシート・特性要因図・層別分析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QC七つ道具 - 使用例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パレート図の作成手順</a:t>
            </a:r>
          </a:p>
          <a:p>
            <a:pPr lvl="1">
              <a:defRPr sz="1600"/>
            </a:pPr>
            <a:r>
              <a:t>1. 「パレート図」タブを選択</a:t>
            </a:r>
          </a:p>
          <a:p>
            <a:pPr lvl="1">
              <a:defRPr sz="1600"/>
            </a:pPr>
            <a:r>
              <a:t>2. 分析対象データ（不良原因・発生件数）を入力</a:t>
            </a:r>
          </a:p>
          <a:p>
            <a:pPr lvl="1">
              <a:defRPr sz="1600"/>
            </a:pPr>
            <a:r>
              <a:t>3. 「グラフ生成」ボタンをクリック</a:t>
            </a:r>
          </a:p>
          <a:p>
            <a:pPr lvl="1">
              <a:defRPr sz="1600"/>
            </a:pPr>
            <a:r>
              <a:t>4. パレート図が表示され、上位80%の原因が強調表示される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管理図の作成手順</a:t>
            </a:r>
          </a:p>
          <a:p>
            <a:pPr lvl="1">
              <a:defRPr sz="1600"/>
            </a:pPr>
            <a:r>
              <a:t>1. 「管理図」タブを選択</a:t>
            </a:r>
          </a:p>
          <a:p>
            <a:pPr lvl="1">
              <a:defRPr sz="1600"/>
            </a:pPr>
            <a:r>
              <a:t>2. 時系列測定データを入力</a:t>
            </a:r>
          </a:p>
          <a:p>
            <a:pPr lvl="1">
              <a:defRPr sz="1600"/>
            </a:pPr>
            <a:r>
              <a:t>3. 管理限界線（UCL・LCL）を設定</a:t>
            </a:r>
          </a:p>
          <a:p>
            <a:pPr lvl="1">
              <a:defRPr sz="1600"/>
            </a:pPr>
            <a:r>
              <a:t>4. 管理図が表示され、異常値が検出される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新QC七つ道具 (qc-analysis.html)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機能概要</a:t>
            </a:r>
          </a:p>
          <a:p>
            <a:pPr lvl="1">
              <a:defRPr sz="1600"/>
            </a:pPr>
            <a:r>
              <a:t>定性データを用いた課題整理・問題解決ツール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提供される手法</a:t>
            </a:r>
          </a:p>
          <a:p>
            <a:pPr lvl="1">
              <a:defRPr sz="1600"/>
            </a:pPr>
            <a:r>
              <a:t>1. 親和図法（KJ法）</a:t>
            </a:r>
          </a:p>
          <a:p>
            <a:pPr lvl="2">
              <a:defRPr sz="1400"/>
            </a:pPr>
            <a:r>
              <a:t>   - 言語データをグループ化して問題の全体像を把握</a:t>
            </a:r>
          </a:p>
          <a:p>
            <a:pPr lvl="1">
              <a:defRPr sz="1600"/>
            </a:pPr>
            <a:r>
              <a:t>2. 連関図法</a:t>
            </a:r>
          </a:p>
          <a:p>
            <a:pPr lvl="2">
              <a:defRPr sz="1400"/>
            </a:pPr>
            <a:r>
              <a:t>   - 複雑な要因の因果関係を可視化</a:t>
            </a:r>
          </a:p>
          <a:p>
            <a:pPr lvl="1">
              <a:defRPr sz="1600"/>
            </a:pPr>
            <a:r>
              <a:t>3. 系統図法</a:t>
            </a:r>
          </a:p>
          <a:p>
            <a:pPr lvl="2">
              <a:defRPr sz="1400"/>
            </a:pPr>
            <a:r>
              <a:t>   - 目的達成のための手段を階層的に整理</a:t>
            </a:r>
          </a:p>
          <a:p>
            <a:pPr lvl="1">
              <a:defRPr sz="1600"/>
            </a:pPr>
            <a:r>
              <a:t>4. マトリックス図法・アローダイアグラム</a:t>
            </a:r>
          </a:p>
          <a:p>
            <a:pPr lvl="1">
              <a:defRPr sz="1600"/>
            </a:pPr>
            <a:r>
              <a:t>5. PDPC法（プロセス決定計画図）</a:t>
            </a:r>
          </a:p>
          <a:p>
            <a:pPr lvl="1">
              <a:defRPr sz="1600"/>
            </a:pPr>
            <a:r>
              <a:t>6. マトリックスデータ解析法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新QC七つ道具 - 使用例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親和図法の作成手順</a:t>
            </a:r>
          </a:p>
          <a:p>
            <a:pPr lvl="1">
              <a:defRPr sz="1600"/>
            </a:pPr>
            <a:r>
              <a:t>1. 「親和図法」タブを選択</a:t>
            </a:r>
          </a:p>
          <a:p>
            <a:pPr lvl="1">
              <a:defRPr sz="1600"/>
            </a:pPr>
            <a:r>
              <a:t>2. 問題に関する意見・データをカードに入力</a:t>
            </a:r>
          </a:p>
          <a:p>
            <a:pPr lvl="1">
              <a:defRPr sz="1600"/>
            </a:pPr>
            <a:r>
              <a:t>3. 類似したカードをドラッグ&amp;ドロップでグループ化</a:t>
            </a:r>
          </a:p>
          <a:p>
            <a:pPr lvl="1">
              <a:defRPr sz="1600"/>
            </a:pPr>
            <a:r>
              <a:t>4. グループごとに見出しを付ける</a:t>
            </a:r>
          </a:p>
          <a:p>
            <a:pPr lvl="1">
              <a:defRPr sz="1600"/>
            </a:pPr>
            <a:r>
              <a:t>5. 親和図が完成し、問題の全体像が可視化される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系統図法の作成手順</a:t>
            </a:r>
          </a:p>
          <a:p>
            <a:pPr lvl="1">
              <a:defRPr sz="1600"/>
            </a:pPr>
            <a:r>
              <a:t>1. 「系統図法」タブを選択</a:t>
            </a:r>
          </a:p>
          <a:p>
            <a:pPr lvl="1">
              <a:defRPr sz="1600"/>
            </a:pPr>
            <a:r>
              <a:t>2. 目的（最終目標）を入力</a:t>
            </a:r>
          </a:p>
          <a:p>
            <a:pPr lvl="1">
              <a:defRPr sz="1600"/>
            </a:pPr>
            <a:r>
              <a:t>3. 手段を階層的に追加していく</a:t>
            </a:r>
          </a:p>
          <a:p>
            <a:pPr lvl="1">
              <a:defRPr sz="1600"/>
            </a:pPr>
            <a:r>
              <a:t>4. 系統図が完成し、実行計画が明確になる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E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8. システム管理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データベース管理 (database.html)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機能概要</a:t>
            </a:r>
          </a:p>
          <a:p>
            <a:pPr lvl="1">
              <a:defRPr sz="1600"/>
            </a:pPr>
            <a:r>
              <a:t>PostgreSQLデータベースのバックアップ・復元を行います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バックアップ</a:t>
            </a:r>
          </a:p>
          <a:p>
            <a:pPr lvl="1">
              <a:defRPr sz="1600"/>
            </a:pPr>
            <a:r>
              <a:t>1. 「バックアップ実行」ボタンをクリック</a:t>
            </a:r>
          </a:p>
          <a:p>
            <a:pPr lvl="1">
              <a:defRPr sz="1600"/>
            </a:pPr>
            <a:r>
              <a:t>2. pg_dumpコマンドでデータベース全体をダンプ</a:t>
            </a:r>
          </a:p>
          <a:p>
            <a:pPr lvl="1">
              <a:defRPr sz="1600"/>
            </a:pPr>
            <a:r>
              <a:t>3. バックアップファイルがbackups/ディレクトリに保存される</a:t>
            </a:r>
          </a:p>
          <a:p>
            <a:pPr lvl="1">
              <a:defRPr sz="1600"/>
            </a:pPr>
            <a:r>
              <a:t>4. ファイル名形式: backup_YYYYMMDD_HHMMSS.sql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復元</a:t>
            </a:r>
          </a:p>
          <a:p>
            <a:pPr lvl="1">
              <a:defRPr sz="1600"/>
            </a:pPr>
            <a:r>
              <a:t>1. 「復元」セクションでバックアップファイルを選択</a:t>
            </a:r>
          </a:p>
          <a:p>
            <a:pPr lvl="1">
              <a:defRPr sz="1600"/>
            </a:pPr>
            <a:r>
              <a:t>2. 「復元実行」ボタンをクリック</a:t>
            </a:r>
          </a:p>
          <a:p>
            <a:pPr lvl="1">
              <a:defRPr sz="1600"/>
            </a:pPr>
            <a:r>
              <a:t>3. 警告メッセージを確認後、実行を承認</a:t>
            </a:r>
          </a:p>
          <a:p>
            <a:pPr lvl="1">
              <a:defRPr sz="1600"/>
            </a:pPr>
            <a:r>
              <a:t>4. psqlコマンドでデータベースが復元される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データベース管理 - 注意事項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バックアップの推奨頻度</a:t>
            </a:r>
          </a:p>
          <a:p>
            <a:pPr lvl="1">
              <a:defRPr sz="1600"/>
            </a:pPr>
            <a:r>
              <a:t>• 日次バックアップ（営業日終了時）</a:t>
            </a:r>
          </a:p>
          <a:p>
            <a:pPr lvl="1">
              <a:defRPr sz="1600"/>
            </a:pPr>
            <a:r>
              <a:t>• 重要な操作前（マスタデータ大量更新など）</a:t>
            </a:r>
          </a:p>
          <a:p>
            <a:pPr lvl="1">
              <a:defRPr sz="1600"/>
            </a:pPr>
            <a:r>
              <a:t>• システムアップデート前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復元時の注意事項</a:t>
            </a:r>
          </a:p>
          <a:p>
            <a:pPr lvl="1">
              <a:defRPr sz="1600"/>
            </a:pPr>
            <a:r>
              <a:t>• 復元は既存データを上書きします</a:t>
            </a:r>
          </a:p>
          <a:p>
            <a:pPr lvl="1">
              <a:defRPr sz="1600"/>
            </a:pPr>
            <a:r>
              <a:t>• 復元前に必ず現在のデータをバックアップしてください</a:t>
            </a:r>
          </a:p>
          <a:p>
            <a:pPr lvl="1">
              <a:defRPr sz="1600"/>
            </a:pPr>
            <a:r>
              <a:t>• 復元中はシステムを使用しないでください</a:t>
            </a:r>
          </a:p>
          <a:p>
            <a:pPr lvl="1">
              <a:defRPr sz="1600"/>
            </a:pPr>
            <a:r>
              <a:t>• 復元後、データ整合性を確認してください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コマンドラインからのバックアップ</a:t>
            </a:r>
          </a:p>
          <a:p>
            <a:pPr lvl="1">
              <a:defRPr sz="1400"/>
            </a:pPr>
            <a:r>
              <a:t>./manage.sh backup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システムログ・ユーザー管理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システムログ</a:t>
            </a:r>
          </a:p>
          <a:p>
            <a:pPr lvl="1">
              <a:defRPr sz="1600"/>
            </a:pPr>
            <a:r>
              <a:t>• 現在準備中</a:t>
            </a:r>
          </a:p>
          <a:p>
            <a:pPr lvl="1">
              <a:defRPr sz="1600"/>
            </a:pPr>
            <a:r>
              <a:t>• 将来的にアプリケーションログ・エラーログの閲覧が可能になります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ユーザー管理</a:t>
            </a:r>
          </a:p>
          <a:p>
            <a:pPr lvl="1">
              <a:defRPr sz="1600"/>
            </a:pPr>
            <a:r>
              <a:t>• 現在準備中</a:t>
            </a:r>
          </a:p>
          <a:p>
            <a:pPr lvl="1">
              <a:defRPr sz="1600"/>
            </a:pPr>
            <a:r>
              <a:t>• 将来的にユーザーアカウント・権限管理が可能になります</a:t>
            </a:r>
          </a:p>
          <a:p>
            <a:pPr lvl="1">
              <a:defRPr sz="1600"/>
            </a:pPr>
            <a:r>
              <a:t>• 予定機能:</a:t>
            </a:r>
          </a:p>
          <a:p>
            <a:pPr lvl="2">
              <a:defRPr sz="1400"/>
            </a:pPr>
            <a:r>
              <a:t>  - ユーザー登録・編集・削除</a:t>
            </a:r>
          </a:p>
          <a:p>
            <a:pPr lvl="2">
              <a:defRPr sz="1400"/>
            </a:pPr>
            <a:r>
              <a:t>  - ロール管理（管理者・検品者・閲覧者など）</a:t>
            </a:r>
          </a:p>
          <a:p>
            <a:pPr lvl="2">
              <a:defRPr sz="1400"/>
            </a:pPr>
            <a:r>
              <a:t>  - アクセス制御・ログイン履歴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E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付録・トラブルシューティング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よくある質問（FAQ）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Q1: QRカメラが起動しません</a:t>
            </a:r>
          </a:p>
          <a:p>
            <a:pPr lvl="1">
              <a:defRPr sz="1400"/>
            </a:pPr>
            <a:r>
              <a:t>A: HTTPSまたはlocalhostでアクセスしてください。</a:t>
            </a:r>
          </a:p>
          <a:p>
            <a:pPr lvl="1">
              <a:defRPr sz="1400"/>
            </a:pPr>
            <a:r>
              <a:t>   iOS Safariの場合、設定→Safari→カメラを「許可」に設定。</a:t>
            </a:r>
          </a:p>
          <a:p>
            <a:pPr>
              <a:defRPr sz="1600"/>
            </a:pPr>
          </a:p>
          <a:p>
            <a:pPr>
              <a:defRPr sz="1600" b="1"/>
            </a:pPr>
            <a:r>
              <a:t>Q2: 検品完了後、在庫が減らない</a:t>
            </a:r>
          </a:p>
          <a:p>
            <a:pPr lvl="1">
              <a:defRPr sz="1400"/>
            </a:pPr>
            <a:r>
              <a:t>A: QR検品の場合、「検品完了」ボタンを押す必要があります。</a:t>
            </a:r>
          </a:p>
          <a:p>
            <a:pPr lvl="1">
              <a:defRPr sz="1400"/>
            </a:pPr>
            <a:r>
              <a:t>   従来型検品の場合、「検品完了」ボタンで在庫が自動減算されます。</a:t>
            </a:r>
          </a:p>
          <a:p>
            <a:pPr>
              <a:defRPr sz="1600"/>
            </a:pPr>
          </a:p>
          <a:p>
            <a:pPr>
              <a:defRPr sz="1600" b="1"/>
            </a:pPr>
            <a:r>
              <a:t>Q3: 出荷指示が検品待ち一覧に表示されない</a:t>
            </a:r>
          </a:p>
          <a:p>
            <a:pPr lvl="1">
              <a:defRPr sz="1400"/>
            </a:pPr>
            <a:r>
              <a:t>A: ステータスが「pending」になっているか確認してください。</a:t>
            </a:r>
          </a:p>
          <a:p>
            <a:pPr lvl="1">
              <a:defRPr sz="1400"/>
            </a:pPr>
            <a:r>
              <a:t>   maintenance.html → 出荷指示 で確認・編集できます。</a:t>
            </a:r>
          </a:p>
          <a:p>
            <a:pPr>
              <a:defRPr sz="1600"/>
            </a:pPr>
          </a:p>
          <a:p>
            <a:pPr>
              <a:defRPr sz="1600" b="1"/>
            </a:pPr>
            <a:r>
              <a:t>Q4: 製品構成部品のQRコードを変更したい</a:t>
            </a:r>
          </a:p>
          <a:p>
            <a:pPr lvl="1">
              <a:defRPr sz="1400"/>
            </a:pPr>
            <a:r>
              <a:t>A: maintenance.html → 製品構成部品 で編集できます。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システム起動・停止コマンド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システム起動</a:t>
            </a:r>
          </a:p>
          <a:p>
            <a:pPr lvl="1">
              <a:defRPr sz="1600"/>
            </a:pPr>
            <a:r>
              <a:t>./manage.sh start</a:t>
            </a:r>
          </a:p>
          <a:p>
            <a:pPr lvl="1">
              <a:defRPr sz="1400"/>
            </a:pPr>
            <a:r>
              <a:t>nginx + API + PostgreSQL が起動します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システム停止</a:t>
            </a:r>
          </a:p>
          <a:p>
            <a:pPr lvl="1">
              <a:defRPr sz="1600"/>
            </a:pPr>
            <a:r>
              <a:t>./manage.sh stop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システム再起動</a:t>
            </a:r>
          </a:p>
          <a:p>
            <a:pPr lvl="1">
              <a:defRPr sz="1600"/>
            </a:pPr>
            <a:r>
              <a:t>./manage.sh restart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モニタリング起動（Grafana + Prometheus）</a:t>
            </a:r>
          </a:p>
          <a:p>
            <a:pPr lvl="1">
              <a:defRPr sz="1600"/>
            </a:pPr>
            <a:r>
              <a:t>./manage.sh monitoring start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ログ確認</a:t>
            </a:r>
          </a:p>
          <a:p>
            <a:pPr lvl="1">
              <a:defRPr sz="1600"/>
            </a:pPr>
            <a:r>
              <a:t>./manage.sh logs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お問い合わせ・サポート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技術サポート</a:t>
            </a:r>
          </a:p>
          <a:p>
            <a:pPr lvl="1">
              <a:defRPr sz="1600"/>
            </a:pPr>
            <a:r>
              <a:t>システムに関するご質問・トラブルシューティングは</a:t>
            </a:r>
          </a:p>
          <a:p>
            <a:pPr lvl="1">
              <a:defRPr sz="1600"/>
            </a:pPr>
            <a:r>
              <a:t>システム管理者までお問い合わせください。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システム情報</a:t>
            </a:r>
          </a:p>
          <a:p>
            <a:pPr lvl="1">
              <a:defRPr sz="1600"/>
            </a:pPr>
            <a:r>
              <a:t>• バージョン: v2.1.0</a:t>
            </a:r>
          </a:p>
          <a:p>
            <a:pPr lvl="1">
              <a:defRPr sz="1600"/>
            </a:pPr>
            <a:r>
              <a:t>• データベース: PostgreSQL 15</a:t>
            </a:r>
          </a:p>
          <a:p>
            <a:pPr lvl="1">
              <a:defRPr sz="1600"/>
            </a:pPr>
            <a:r>
              <a:t>• 最終更新: 2025-11-07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ドキュメント</a:t>
            </a:r>
          </a:p>
          <a:p>
            <a:pPr lvl="1">
              <a:defRPr sz="1600"/>
            </a:pPr>
            <a:r>
              <a:t>詳細な技術情報は CLAUDE.md を参照してください。</a:t>
            </a:r>
          </a:p>
          <a:p>
            <a:pPr>
              <a:defRPr sz="1600"/>
            </a:pPr>
          </a:p>
          <a:p>
            <a:pPr>
              <a:defRPr sz="1800" b="1"/>
            </a:pPr>
            <a:r>
              <a:t>本操作手順書の更新履歴</a:t>
            </a:r>
          </a:p>
          <a:p>
            <a:pPr lvl="1">
              <a:defRPr sz="1600"/>
            </a:pPr>
            <a:r>
              <a:t>• 2025-11-10: 初版作成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